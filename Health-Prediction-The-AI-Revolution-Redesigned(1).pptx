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50" b="0" i="0" u="none" strike="noStrike">
                <a:solidFill>
                  <a:srgbClr val="13272A"/>
                </a:solidFill>
                <a:latin typeface="Calibri"/>
              </a:defRPr>
            </a:pPr>
            <a:r>
              <a:rPr sz="1150" b="0" i="0" u="none" strike="noStrike">
                <a:solidFill>
                  <a:srgbClr val="13272A"/>
                </a:solidFill>
                <a:latin typeface="Calibri"/>
              </a:rPr>
              <a:t>Relative Capability (illustrative, 0–10)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Traditional</c:v>
                </c:pt>
              </c:strCache>
            </c:strRef>
          </c:tx>
          <c:spPr>
            <a:solidFill>
              <a:srgbClr val="C9D6D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3272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Speed</c:v>
                  </c:pt>
                  <c:pt idx="1">
                    <c:v>Consistency</c:v>
                  </c:pt>
                  <c:pt idx="2">
                    <c:v>Scale</c:v>
                  </c:pt>
                  <c:pt idx="3">
                    <c:v>Learning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</c:v>
                </c:pt>
                <c:pt idx="1">
                  <c:v>4</c:v>
                </c:pt>
                <c:pt idx="2">
                  <c:v>3</c:v>
                </c:pt>
                <c:pt idx="3">
                  <c:v>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AI-Powered</c:v>
                </c:pt>
              </c:strCache>
            </c:strRef>
          </c:tx>
          <c:spPr>
            <a:solidFill>
              <a:srgbClr val="FF6B5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3272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Speed</c:v>
                  </c:pt>
                  <c:pt idx="1">
                    <c:v>Consistency</c:v>
                  </c:pt>
                  <c:pt idx="2">
                    <c:v>Scale</c:v>
                  </c:pt>
                  <c:pt idx="3">
                    <c:v>Learning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9</c:v>
                </c:pt>
                <c:pt idx="1">
                  <c:v>9</c:v>
                </c:pt>
                <c:pt idx="2">
                  <c:v>10</c:v>
                </c:pt>
                <c:pt idx="3">
                  <c:v>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3272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C737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13272A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image" Target="../media/image-8-1.png"/><Relationship Id="rId3" Type="http://schemas.openxmlformats.org/officeDocument/2006/relationships/image" Target="../media/image-8-2.png"/><Relationship Id="rId4" Type="http://schemas.openxmlformats.org/officeDocument/2006/relationships/image" Target="../media/image-8-3.png"/><Relationship Id="rId5" Type="http://schemas.openxmlformats.org/officeDocument/2006/relationships/image" Target="../media/image-8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2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103120"/>
            <a:ext cx="5943600" cy="5943600"/>
          </a:xfrm>
          <a:prstGeom prst="ellipse">
            <a:avLst/>
          </a:prstGeom>
          <a:solidFill>
            <a:srgbClr val="0F3D3E">
              <a:alpha val="6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3566160"/>
            <a:ext cx="3291840" cy="3291840"/>
          </a:xfrm>
          <a:prstGeom prst="ellipse">
            <a:avLst/>
          </a:prstGeom>
          <a:solidFill>
            <a:srgbClr val="1B6B65">
              <a:alpha val="7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594360"/>
            <a:ext cx="2788920" cy="384048"/>
          </a:xfrm>
          <a:prstGeom prst="roundRect">
            <a:avLst>
              <a:gd name="adj" fmla="val 50000"/>
            </a:avLst>
          </a:prstGeom>
          <a:solidFill>
            <a:srgbClr val="0F4644"/>
          </a:solidFill>
          <a:ln w="12700">
            <a:solidFill>
              <a:srgbClr val="FF6B5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594360"/>
            <a:ext cx="2788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6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HEALTHCARE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965960"/>
            <a:ext cx="841248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Health Prediction:</a:t>
            </a:r>
            <a:endParaRPr lang="en-US" sz="4600" dirty="0"/>
          </a:p>
          <a:p>
            <a:pPr indent="0" marL="0">
              <a:lnSpc>
                <a:spcPts val="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AI Revolution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594360" y="3977640"/>
            <a:ext cx="7589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AFC9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Predicting outcomes before they manifest — shaping a future of proactive, intelligent care.</a:t>
            </a:r>
            <a:endParaRPr lang="en-US" sz="1600" dirty="0"/>
          </a:p>
        </p:txBody>
      </p:sp>
      <p:pic>
        <p:nvPicPr>
          <p:cNvPr id="8" name="Image 0" descr="/home/claude/ppt2/icons/pulse_line.png">    </p:cNvPr>
          <p:cNvPicPr>
            <a:picLocks noChangeAspect="1"/>
          </p:cNvPicPr>
          <p:nvPr/>
        </p:nvPicPr>
        <p:blipFill>
          <a:blip r:embed="rId1">
            <a:alphaModFix amt="90000"/>
          </a:blip>
          <a:stretch>
            <a:fillRect/>
          </a:stretch>
        </p:blipFill>
        <p:spPr>
          <a:xfrm>
            <a:off x="502920" y="5074920"/>
            <a:ext cx="7863840" cy="6858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48640" y="59893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E8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 PROJECT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9921240" y="4480560"/>
            <a:ext cx="1417320" cy="1417320"/>
          </a:xfrm>
          <a:prstGeom prst="ellipse">
            <a:avLst/>
          </a:prstGeom>
          <a:solidFill>
            <a:srgbClr val="0F4644"/>
          </a:solidFill>
          <a:ln/>
        </p:spPr>
      </p:sp>
      <p:pic>
        <p:nvPicPr>
          <p:cNvPr id="11" name="Image 1" descr="/home/claude/ppt2/icons/heartbea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32136" y="4791456"/>
            <a:ext cx="795528" cy="79552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32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Current Healthcare Challenge</a:t>
            </a:r>
            <a:endParaRPr lang="en-US" sz="2900" dirty="0"/>
          </a:p>
        </p:txBody>
      </p:sp>
      <p:pic>
        <p:nvPicPr>
          <p:cNvPr id="4" name="Image 0" descr="/home/claude/ppt2/icons/pulse_line_mut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55280" y="502920"/>
            <a:ext cx="3749040" cy="5029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1920240"/>
            <a:ext cx="3520440" cy="3931920"/>
          </a:xfrm>
          <a:prstGeom prst="roundRect">
            <a:avLst>
              <a:gd name="adj" fmla="val 2597"/>
            </a:avLst>
          </a:prstGeom>
          <a:solidFill>
            <a:srgbClr val="F1F6F5"/>
          </a:solidFill>
          <a:ln/>
        </p:spPr>
      </p:sp>
      <p:sp>
        <p:nvSpPr>
          <p:cNvPr id="6" name="Shape 3"/>
          <p:cNvSpPr/>
          <p:nvPr/>
        </p:nvSpPr>
        <p:spPr>
          <a:xfrm>
            <a:off x="868680" y="2377440"/>
            <a:ext cx="868680" cy="868680"/>
          </a:xfrm>
          <a:prstGeom prst="ellipse">
            <a:avLst/>
          </a:prstGeom>
          <a:solidFill>
            <a:srgbClr val="0F3D3E"/>
          </a:solidFill>
          <a:ln/>
        </p:spPr>
      </p:sp>
      <p:pic>
        <p:nvPicPr>
          <p:cNvPr id="7" name="Image 1" descr="/home/claude/ppt2/icons/glob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136" y="2596896"/>
            <a:ext cx="429768" cy="42976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68680" y="3429000"/>
            <a:ext cx="2880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32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Chronic Disease Burden</a:t>
            </a:r>
            <a:endParaRPr lang="en-US" sz="1650" dirty="0"/>
          </a:p>
        </p:txBody>
      </p:sp>
      <p:sp>
        <p:nvSpPr>
          <p:cNvPr id="9" name="Text 5"/>
          <p:cNvSpPr/>
          <p:nvPr/>
        </p:nvSpPr>
        <p:spPr>
          <a:xfrm>
            <a:off x="868680" y="4069080"/>
            <a:ext cx="28803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5C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Rising global rates of diabetes, heart disease, and cancer are overwhelming healthcare systems.</a:t>
            </a:r>
            <a:endParaRPr lang="en-US" sz="1250" dirty="0"/>
          </a:p>
        </p:txBody>
      </p:sp>
      <p:sp>
        <p:nvSpPr>
          <p:cNvPr id="10" name="Shape 6"/>
          <p:cNvSpPr/>
          <p:nvPr/>
        </p:nvSpPr>
        <p:spPr>
          <a:xfrm>
            <a:off x="4343400" y="1920240"/>
            <a:ext cx="3520440" cy="3931920"/>
          </a:xfrm>
          <a:prstGeom prst="roundRect">
            <a:avLst>
              <a:gd name="adj" fmla="val 2597"/>
            </a:avLst>
          </a:prstGeom>
          <a:solidFill>
            <a:srgbClr val="F1F6F5"/>
          </a:solidFill>
          <a:ln/>
        </p:spPr>
      </p:sp>
      <p:sp>
        <p:nvSpPr>
          <p:cNvPr id="11" name="Shape 7"/>
          <p:cNvSpPr/>
          <p:nvPr/>
        </p:nvSpPr>
        <p:spPr>
          <a:xfrm>
            <a:off x="4663440" y="2377440"/>
            <a:ext cx="868680" cy="868680"/>
          </a:xfrm>
          <a:prstGeom prst="ellipse">
            <a:avLst/>
          </a:prstGeom>
          <a:solidFill>
            <a:srgbClr val="1B6B65"/>
          </a:solidFill>
          <a:ln/>
        </p:spPr>
      </p:sp>
      <p:pic>
        <p:nvPicPr>
          <p:cNvPr id="12" name="Image 2" descr="/home/claude/ppt2/icons/clo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82896" y="2596896"/>
            <a:ext cx="429768" cy="42976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4663440" y="3429000"/>
            <a:ext cx="2880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32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Diagnostic Delays</a:t>
            </a:r>
            <a:endParaRPr lang="en-US" sz="1650" dirty="0"/>
          </a:p>
        </p:txBody>
      </p:sp>
      <p:sp>
        <p:nvSpPr>
          <p:cNvPr id="14" name="Text 9"/>
          <p:cNvSpPr/>
          <p:nvPr/>
        </p:nvSpPr>
        <p:spPr>
          <a:xfrm>
            <a:off x="4663440" y="4069080"/>
            <a:ext cx="28803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5C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 detection increases mortality. Traditional diagnostics are slow and error-prone.</a:t>
            </a:r>
            <a:endParaRPr lang="en-US" sz="1250" dirty="0"/>
          </a:p>
        </p:txBody>
      </p:sp>
      <p:sp>
        <p:nvSpPr>
          <p:cNvPr id="15" name="Shape 10"/>
          <p:cNvSpPr/>
          <p:nvPr/>
        </p:nvSpPr>
        <p:spPr>
          <a:xfrm>
            <a:off x="8138160" y="1920240"/>
            <a:ext cx="3520440" cy="3931920"/>
          </a:xfrm>
          <a:prstGeom prst="roundRect">
            <a:avLst>
              <a:gd name="adj" fmla="val 2597"/>
            </a:avLst>
          </a:prstGeom>
          <a:solidFill>
            <a:srgbClr val="F1F6F5"/>
          </a:solidFill>
          <a:ln/>
        </p:spPr>
      </p:sp>
      <p:sp>
        <p:nvSpPr>
          <p:cNvPr id="16" name="Shape 11"/>
          <p:cNvSpPr/>
          <p:nvPr/>
        </p:nvSpPr>
        <p:spPr>
          <a:xfrm>
            <a:off x="8458200" y="2377440"/>
            <a:ext cx="868680" cy="868680"/>
          </a:xfrm>
          <a:prstGeom prst="ellipse">
            <a:avLst/>
          </a:prstGeom>
          <a:solidFill>
            <a:srgbClr val="0F3D3E"/>
          </a:solidFill>
          <a:ln/>
        </p:spPr>
      </p:sp>
      <p:pic>
        <p:nvPicPr>
          <p:cNvPr id="17" name="Image 3" descr="/home/claude/ppt2/icons/chartlin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77656" y="2596896"/>
            <a:ext cx="429768" cy="429768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8458200" y="3429000"/>
            <a:ext cx="2880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32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Overload</a:t>
            </a:r>
            <a:endParaRPr lang="en-US" sz="1650" dirty="0"/>
          </a:p>
        </p:txBody>
      </p:sp>
      <p:sp>
        <p:nvSpPr>
          <p:cNvPr id="19" name="Text 13"/>
          <p:cNvSpPr/>
          <p:nvPr/>
        </p:nvSpPr>
        <p:spPr>
          <a:xfrm>
            <a:off x="8458200" y="4069080"/>
            <a:ext cx="28803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5C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Clinicians face more patient data than they can process, leading to missed signals.</a:t>
            </a:r>
            <a:endParaRPr lang="en-US" sz="1250" dirty="0"/>
          </a:p>
        </p:txBody>
      </p:sp>
      <p:sp>
        <p:nvSpPr>
          <p:cNvPr id="20" name="Text 14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Prediction — AI Revolution</a:t>
            </a:r>
            <a:endParaRPr lang="en-US" sz="900" dirty="0"/>
          </a:p>
        </p:txBody>
      </p:sp>
      <p:sp>
        <p:nvSpPr>
          <p:cNvPr id="21" name="Text 15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2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6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PIPELINE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It Works: The Data Engine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AFC9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raw patient data to actionable health predictions — powered by deep learning.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1005840" y="2834640"/>
            <a:ext cx="1371600" cy="1371600"/>
          </a:xfrm>
          <a:prstGeom prst="ellipse">
            <a:avLst/>
          </a:prstGeom>
          <a:solidFill>
            <a:srgbClr val="0F4644"/>
          </a:solidFill>
          <a:ln w="25400">
            <a:solidFill>
              <a:srgbClr val="FF6B57"/>
            </a:solidFill>
            <a:prstDash val="solid"/>
          </a:ln>
        </p:spPr>
      </p:sp>
      <p:pic>
        <p:nvPicPr>
          <p:cNvPr id="6" name="Image 0" descr="/home/claude/ppt2/icons/database_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35024" y="3163824"/>
            <a:ext cx="713232" cy="7132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011680" y="272491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6B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548640" y="443484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Input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2834640" y="3154680"/>
            <a:ext cx="640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6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3931920" y="2834640"/>
            <a:ext cx="1371600" cy="1371600"/>
          </a:xfrm>
          <a:prstGeom prst="ellipse">
            <a:avLst/>
          </a:prstGeom>
          <a:solidFill>
            <a:srgbClr val="0F4644"/>
          </a:solidFill>
          <a:ln w="25400">
            <a:solidFill>
              <a:srgbClr val="FF6B57"/>
            </a:solidFill>
            <a:prstDash val="solid"/>
          </a:ln>
        </p:spPr>
      </p:sp>
      <p:pic>
        <p:nvPicPr>
          <p:cNvPr id="11" name="Image 1" descr="/home/claude/ppt2/icons/filt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61104" y="3163824"/>
            <a:ext cx="713232" cy="71323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937760" y="272491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6B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3474720" y="443484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Pre-processing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5760720" y="3154680"/>
            <a:ext cx="640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6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5" name="Shape 11"/>
          <p:cNvSpPr/>
          <p:nvPr/>
        </p:nvSpPr>
        <p:spPr>
          <a:xfrm>
            <a:off x="6858000" y="2834640"/>
            <a:ext cx="1371600" cy="1371600"/>
          </a:xfrm>
          <a:prstGeom prst="ellipse">
            <a:avLst/>
          </a:prstGeom>
          <a:solidFill>
            <a:srgbClr val="0F4644"/>
          </a:solidFill>
          <a:ln w="25400">
            <a:solidFill>
              <a:srgbClr val="FF6B57"/>
            </a:solidFill>
            <a:prstDash val="solid"/>
          </a:ln>
        </p:spPr>
      </p:sp>
      <p:pic>
        <p:nvPicPr>
          <p:cNvPr id="16" name="Image 2" descr="/home/claude/ppt2/icons/brai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87184" y="3163824"/>
            <a:ext cx="713232" cy="71323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7863840" y="272491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6B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6400800" y="443484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Extraction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8686800" y="3154680"/>
            <a:ext cx="640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6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20" name="Shape 15"/>
          <p:cNvSpPr/>
          <p:nvPr/>
        </p:nvSpPr>
        <p:spPr>
          <a:xfrm>
            <a:off x="9784080" y="2834640"/>
            <a:ext cx="1371600" cy="1371600"/>
          </a:xfrm>
          <a:prstGeom prst="ellipse">
            <a:avLst/>
          </a:prstGeom>
          <a:solidFill>
            <a:srgbClr val="0F4644"/>
          </a:solidFill>
          <a:ln w="25400">
            <a:solidFill>
              <a:srgbClr val="FF6B57"/>
            </a:solidFill>
            <a:prstDash val="solid"/>
          </a:ln>
        </p:spPr>
      </p:sp>
      <p:pic>
        <p:nvPicPr>
          <p:cNvPr id="21" name="Image 3" descr="/home/claude/ppt2/icons/bullsey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3264" y="3163824"/>
            <a:ext cx="713232" cy="71323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0789920" y="272491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6B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9326880" y="443484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Stratification</a:t>
            </a:r>
            <a:endParaRPr lang="en-US" sz="1400" dirty="0"/>
          </a:p>
        </p:txBody>
      </p:sp>
      <p:pic>
        <p:nvPicPr>
          <p:cNvPr id="24" name="Image 4" descr="/home/claude/ppt2/icons/pulse_line.png">    </p:cNvPr>
          <p:cNvPicPr>
            <a:picLocks noChangeAspect="1"/>
          </p:cNvPicPr>
          <p:nvPr/>
        </p:nvPicPr>
        <p:blipFill>
          <a:blip r:embed="rId5">
            <a:alphaModFix amt="75000"/>
          </a:blip>
          <a:stretch>
            <a:fillRect/>
          </a:stretch>
        </p:blipFill>
        <p:spPr>
          <a:xfrm>
            <a:off x="1371600" y="5257800"/>
            <a:ext cx="9418320" cy="548640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8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Prediction — AI Revolution</a:t>
            </a:r>
            <a:endParaRPr lang="en-US" sz="900" dirty="0"/>
          </a:p>
        </p:txBody>
      </p:sp>
      <p:sp>
        <p:nvSpPr>
          <p:cNvPr id="26" name="Text 19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8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FOUNDATION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32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Modules (1–2)</a:t>
            </a:r>
            <a:endParaRPr lang="en-US" sz="2900" dirty="0"/>
          </a:p>
        </p:txBody>
      </p:sp>
      <p:pic>
        <p:nvPicPr>
          <p:cNvPr id="4" name="Image 0" descr="/home/claude/ppt2/icons/pulse_line_mut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55280" y="502920"/>
            <a:ext cx="3749040" cy="5029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1737360"/>
            <a:ext cx="5440680" cy="4206240"/>
          </a:xfrm>
          <a:prstGeom prst="roundRect">
            <a:avLst>
              <a:gd name="adj" fmla="val 2174"/>
            </a:avLst>
          </a:prstGeom>
          <a:solidFill>
            <a:srgbClr val="F1F6F5"/>
          </a:solidFill>
          <a:ln/>
        </p:spPr>
      </p:sp>
      <p:sp>
        <p:nvSpPr>
          <p:cNvPr id="6" name="Shape 3"/>
          <p:cNvSpPr/>
          <p:nvPr/>
        </p:nvSpPr>
        <p:spPr>
          <a:xfrm>
            <a:off x="914400" y="2103120"/>
            <a:ext cx="868680" cy="868680"/>
          </a:xfrm>
          <a:prstGeom prst="ellipse">
            <a:avLst/>
          </a:prstGeom>
          <a:solidFill>
            <a:srgbClr val="0F3D3E"/>
          </a:solidFill>
          <a:ln/>
        </p:spPr>
      </p:sp>
      <p:pic>
        <p:nvPicPr>
          <p:cNvPr id="7" name="Image 1" descr="/home/claude/ppt2/icons/userlo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3856" y="2322576"/>
            <a:ext cx="429768" cy="42976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920240" y="2194560"/>
            <a:ext cx="3703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User Authentication</a:t>
            </a:r>
            <a:endParaRPr lang="en-US" sz="1700" dirty="0"/>
          </a:p>
        </p:txBody>
      </p:sp>
      <p:sp>
        <p:nvSpPr>
          <p:cNvPr id="9" name="Shape 5"/>
          <p:cNvSpPr/>
          <p:nvPr/>
        </p:nvSpPr>
        <p:spPr>
          <a:xfrm>
            <a:off x="914400" y="3328416"/>
            <a:ext cx="109728" cy="109728"/>
          </a:xfrm>
          <a:prstGeom prst="ellipse">
            <a:avLst/>
          </a:prstGeom>
          <a:solidFill>
            <a:srgbClr val="FF6B57"/>
          </a:solidFill>
          <a:ln/>
        </p:spPr>
      </p:sp>
      <p:sp>
        <p:nvSpPr>
          <p:cNvPr id="10" name="Text 6"/>
          <p:cNvSpPr/>
          <p:nvPr/>
        </p:nvSpPr>
        <p:spPr>
          <a:xfrm>
            <a:off x="1170432" y="3172968"/>
            <a:ext cx="44805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3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user registration &amp; login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914400" y="3986784"/>
            <a:ext cx="109728" cy="109728"/>
          </a:xfrm>
          <a:prstGeom prst="ellipse">
            <a:avLst/>
          </a:prstGeom>
          <a:solidFill>
            <a:srgbClr val="FF6B57"/>
          </a:solidFill>
          <a:ln/>
        </p:spPr>
      </p:sp>
      <p:sp>
        <p:nvSpPr>
          <p:cNvPr id="12" name="Text 8"/>
          <p:cNvSpPr/>
          <p:nvPr/>
        </p:nvSpPr>
        <p:spPr>
          <a:xfrm>
            <a:off x="1170432" y="3831336"/>
            <a:ext cx="44805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3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Encrypted profile management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914400" y="4645152"/>
            <a:ext cx="109728" cy="109728"/>
          </a:xfrm>
          <a:prstGeom prst="ellipse">
            <a:avLst/>
          </a:prstGeom>
          <a:solidFill>
            <a:srgbClr val="FF6B57"/>
          </a:solidFill>
          <a:ln/>
        </p:spPr>
      </p:sp>
      <p:sp>
        <p:nvSpPr>
          <p:cNvPr id="14" name="Text 10"/>
          <p:cNvSpPr/>
          <p:nvPr/>
        </p:nvSpPr>
        <p:spPr>
          <a:xfrm>
            <a:off x="1170432" y="4489704"/>
            <a:ext cx="44805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3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 control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6263640" y="1737360"/>
            <a:ext cx="5440680" cy="4206240"/>
          </a:xfrm>
          <a:prstGeom prst="roundRect">
            <a:avLst>
              <a:gd name="adj" fmla="val 2174"/>
            </a:avLst>
          </a:prstGeom>
          <a:solidFill>
            <a:srgbClr val="F1F6F5"/>
          </a:solidFill>
          <a:ln/>
        </p:spPr>
      </p:sp>
      <p:sp>
        <p:nvSpPr>
          <p:cNvPr id="16" name="Shape 12"/>
          <p:cNvSpPr/>
          <p:nvPr/>
        </p:nvSpPr>
        <p:spPr>
          <a:xfrm>
            <a:off x="6629400" y="2103120"/>
            <a:ext cx="868680" cy="868680"/>
          </a:xfrm>
          <a:prstGeom prst="ellipse">
            <a:avLst/>
          </a:prstGeom>
          <a:solidFill>
            <a:srgbClr val="1B6B65"/>
          </a:solidFill>
          <a:ln/>
        </p:spPr>
      </p:sp>
      <p:pic>
        <p:nvPicPr>
          <p:cNvPr id="17" name="Image 2" descr="/home/claude/ppt2/icons/clipboardlis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48856" y="2322576"/>
            <a:ext cx="429768" cy="42976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7635240" y="2194560"/>
            <a:ext cx="3703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Symptom Input Module</a:t>
            </a:r>
            <a:endParaRPr lang="en-US" sz="1700" dirty="0"/>
          </a:p>
        </p:txBody>
      </p:sp>
      <p:sp>
        <p:nvSpPr>
          <p:cNvPr id="19" name="Shape 14"/>
          <p:cNvSpPr/>
          <p:nvPr/>
        </p:nvSpPr>
        <p:spPr>
          <a:xfrm>
            <a:off x="6629400" y="3328416"/>
            <a:ext cx="109728" cy="109728"/>
          </a:xfrm>
          <a:prstGeom prst="ellipse">
            <a:avLst/>
          </a:prstGeom>
          <a:solidFill>
            <a:srgbClr val="FF6B57"/>
          </a:solidFill>
          <a:ln/>
        </p:spPr>
      </p:sp>
      <p:sp>
        <p:nvSpPr>
          <p:cNvPr id="20" name="Text 15"/>
          <p:cNvSpPr/>
          <p:nvPr/>
        </p:nvSpPr>
        <p:spPr>
          <a:xfrm>
            <a:off x="6885432" y="3172968"/>
            <a:ext cx="44805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3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patient detail entry</a:t>
            </a:r>
            <a:endParaRPr lang="en-US" sz="1300" dirty="0"/>
          </a:p>
        </p:txBody>
      </p:sp>
      <p:sp>
        <p:nvSpPr>
          <p:cNvPr id="21" name="Shape 16"/>
          <p:cNvSpPr/>
          <p:nvPr/>
        </p:nvSpPr>
        <p:spPr>
          <a:xfrm>
            <a:off x="6629400" y="3986784"/>
            <a:ext cx="109728" cy="109728"/>
          </a:xfrm>
          <a:prstGeom prst="ellipse">
            <a:avLst/>
          </a:prstGeom>
          <a:solidFill>
            <a:srgbClr val="FF6B57"/>
          </a:solidFill>
          <a:ln/>
        </p:spPr>
      </p:sp>
      <p:sp>
        <p:nvSpPr>
          <p:cNvPr id="22" name="Text 17"/>
          <p:cNvSpPr/>
          <p:nvPr/>
        </p:nvSpPr>
        <p:spPr>
          <a:xfrm>
            <a:off x="6885432" y="3831336"/>
            <a:ext cx="44805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3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Multi-select symptom checklist</a:t>
            </a:r>
            <a:endParaRPr lang="en-US" sz="1300" dirty="0"/>
          </a:p>
        </p:txBody>
      </p:sp>
      <p:sp>
        <p:nvSpPr>
          <p:cNvPr id="23" name="Shape 18"/>
          <p:cNvSpPr/>
          <p:nvPr/>
        </p:nvSpPr>
        <p:spPr>
          <a:xfrm>
            <a:off x="6629400" y="4645152"/>
            <a:ext cx="109728" cy="109728"/>
          </a:xfrm>
          <a:prstGeom prst="ellipse">
            <a:avLst/>
          </a:prstGeom>
          <a:solidFill>
            <a:srgbClr val="FF6B57"/>
          </a:solidFill>
          <a:ln/>
        </p:spPr>
      </p:sp>
      <p:sp>
        <p:nvSpPr>
          <p:cNvPr id="24" name="Text 19"/>
          <p:cNvSpPr/>
          <p:nvPr/>
        </p:nvSpPr>
        <p:spPr>
          <a:xfrm>
            <a:off x="6885432" y="4489704"/>
            <a:ext cx="44805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3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validation &amp; error handling</a:t>
            </a:r>
            <a:endParaRPr lang="en-US" sz="1300" dirty="0"/>
          </a:p>
        </p:txBody>
      </p:sp>
      <p:sp>
        <p:nvSpPr>
          <p:cNvPr id="25" name="Text 20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Prediction — AI Revolution</a:t>
            </a:r>
            <a:endParaRPr lang="en-US" sz="900" dirty="0"/>
          </a:p>
        </p:txBody>
      </p:sp>
      <p:sp>
        <p:nvSpPr>
          <p:cNvPr id="26" name="Text 21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INTELLIGENCE LAYER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32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Modules (3–4: Prediction &amp; Reporting)</a:t>
            </a:r>
            <a:endParaRPr lang="en-US" sz="2900" dirty="0"/>
          </a:p>
        </p:txBody>
      </p:sp>
      <p:pic>
        <p:nvPicPr>
          <p:cNvPr id="4" name="Image 0" descr="/home/claude/ppt2/icons/pulse_line_mut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55280" y="502920"/>
            <a:ext cx="3749040" cy="5029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1737360"/>
            <a:ext cx="5440680" cy="4206240"/>
          </a:xfrm>
          <a:prstGeom prst="roundRect">
            <a:avLst>
              <a:gd name="adj" fmla="val 2174"/>
            </a:avLst>
          </a:prstGeom>
          <a:solidFill>
            <a:srgbClr val="F1F6F5"/>
          </a:solidFill>
          <a:ln/>
        </p:spPr>
      </p:sp>
      <p:sp>
        <p:nvSpPr>
          <p:cNvPr id="6" name="Shape 3"/>
          <p:cNvSpPr/>
          <p:nvPr/>
        </p:nvSpPr>
        <p:spPr>
          <a:xfrm>
            <a:off x="914400" y="2103120"/>
            <a:ext cx="868680" cy="868680"/>
          </a:xfrm>
          <a:prstGeom prst="ellipse">
            <a:avLst/>
          </a:prstGeom>
          <a:solidFill>
            <a:srgbClr val="0F3D3E"/>
          </a:solidFill>
          <a:ln/>
        </p:spPr>
      </p:sp>
      <p:pic>
        <p:nvPicPr>
          <p:cNvPr id="7" name="Image 1" descr="/home/claude/ppt2/icons/robo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3856" y="2322576"/>
            <a:ext cx="429768" cy="42976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920240" y="2194560"/>
            <a:ext cx="3703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Disease Prediction Module</a:t>
            </a:r>
            <a:endParaRPr lang="en-US" sz="1700" dirty="0"/>
          </a:p>
        </p:txBody>
      </p:sp>
      <p:sp>
        <p:nvSpPr>
          <p:cNvPr id="9" name="Shape 5"/>
          <p:cNvSpPr/>
          <p:nvPr/>
        </p:nvSpPr>
        <p:spPr>
          <a:xfrm>
            <a:off x="914400" y="3328416"/>
            <a:ext cx="109728" cy="109728"/>
          </a:xfrm>
          <a:prstGeom prst="ellipse">
            <a:avLst/>
          </a:prstGeom>
          <a:solidFill>
            <a:srgbClr val="FF6B57"/>
          </a:solidFill>
          <a:ln/>
        </p:spPr>
      </p:sp>
      <p:sp>
        <p:nvSpPr>
          <p:cNvPr id="10" name="Text 6"/>
          <p:cNvSpPr/>
          <p:nvPr/>
        </p:nvSpPr>
        <p:spPr>
          <a:xfrm>
            <a:off x="1170432" y="3172968"/>
            <a:ext cx="44805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3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AI/ML analyzes symptom patterns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914400" y="3986784"/>
            <a:ext cx="109728" cy="109728"/>
          </a:xfrm>
          <a:prstGeom prst="ellipse">
            <a:avLst/>
          </a:prstGeom>
          <a:solidFill>
            <a:srgbClr val="FF6B57"/>
          </a:solidFill>
          <a:ln/>
        </p:spPr>
      </p:sp>
      <p:sp>
        <p:nvSpPr>
          <p:cNvPr id="12" name="Text 8"/>
          <p:cNvSpPr/>
          <p:nvPr/>
        </p:nvSpPr>
        <p:spPr>
          <a:xfrm>
            <a:off x="1170432" y="3831336"/>
            <a:ext cx="44805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3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Predicts possible diseases with confidence scores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914400" y="4645152"/>
            <a:ext cx="109728" cy="109728"/>
          </a:xfrm>
          <a:prstGeom prst="ellipse">
            <a:avLst/>
          </a:prstGeom>
          <a:solidFill>
            <a:srgbClr val="FF6B57"/>
          </a:solidFill>
          <a:ln/>
        </p:spPr>
      </p:sp>
      <p:sp>
        <p:nvSpPr>
          <p:cNvPr id="14" name="Text 10"/>
          <p:cNvSpPr/>
          <p:nvPr/>
        </p:nvSpPr>
        <p:spPr>
          <a:xfrm>
            <a:off x="1170432" y="4489704"/>
            <a:ext cx="44805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3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Displays prediction accuracy percentage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6263640" y="1737360"/>
            <a:ext cx="5440680" cy="4206240"/>
          </a:xfrm>
          <a:prstGeom prst="roundRect">
            <a:avLst>
              <a:gd name="adj" fmla="val 2174"/>
            </a:avLst>
          </a:prstGeom>
          <a:solidFill>
            <a:srgbClr val="F1F6F5"/>
          </a:solidFill>
          <a:ln/>
        </p:spPr>
      </p:sp>
      <p:sp>
        <p:nvSpPr>
          <p:cNvPr id="16" name="Shape 12"/>
          <p:cNvSpPr/>
          <p:nvPr/>
        </p:nvSpPr>
        <p:spPr>
          <a:xfrm>
            <a:off x="6629400" y="2103120"/>
            <a:ext cx="868680" cy="868680"/>
          </a:xfrm>
          <a:prstGeom prst="ellipse">
            <a:avLst/>
          </a:prstGeom>
          <a:solidFill>
            <a:srgbClr val="1B6B65"/>
          </a:solidFill>
          <a:ln/>
        </p:spPr>
      </p:sp>
      <p:pic>
        <p:nvPicPr>
          <p:cNvPr id="17" name="Image 2" descr="/home/claude/ppt2/icons/filemedica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48856" y="2322576"/>
            <a:ext cx="429768" cy="42976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7635240" y="2194560"/>
            <a:ext cx="3703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Health Report Module</a:t>
            </a:r>
            <a:endParaRPr lang="en-US" sz="1700" dirty="0"/>
          </a:p>
        </p:txBody>
      </p:sp>
      <p:sp>
        <p:nvSpPr>
          <p:cNvPr id="19" name="Shape 14"/>
          <p:cNvSpPr/>
          <p:nvPr/>
        </p:nvSpPr>
        <p:spPr>
          <a:xfrm>
            <a:off x="6629400" y="3328416"/>
            <a:ext cx="109728" cy="109728"/>
          </a:xfrm>
          <a:prstGeom prst="ellipse">
            <a:avLst/>
          </a:prstGeom>
          <a:solidFill>
            <a:srgbClr val="FF6B57"/>
          </a:solidFill>
          <a:ln/>
        </p:spPr>
      </p:sp>
      <p:sp>
        <p:nvSpPr>
          <p:cNvPr id="20" name="Text 15"/>
          <p:cNvSpPr/>
          <p:nvPr/>
        </p:nvSpPr>
        <p:spPr>
          <a:xfrm>
            <a:off x="6885432" y="3172968"/>
            <a:ext cx="44805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3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structured prediction report</a:t>
            </a:r>
            <a:endParaRPr lang="en-US" sz="1300" dirty="0"/>
          </a:p>
        </p:txBody>
      </p:sp>
      <p:sp>
        <p:nvSpPr>
          <p:cNvPr id="21" name="Shape 16"/>
          <p:cNvSpPr/>
          <p:nvPr/>
        </p:nvSpPr>
        <p:spPr>
          <a:xfrm>
            <a:off x="6629400" y="3986784"/>
            <a:ext cx="109728" cy="109728"/>
          </a:xfrm>
          <a:prstGeom prst="ellipse">
            <a:avLst/>
          </a:prstGeom>
          <a:solidFill>
            <a:srgbClr val="FF6B57"/>
          </a:solidFill>
          <a:ln/>
        </p:spPr>
      </p:sp>
      <p:sp>
        <p:nvSpPr>
          <p:cNvPr id="22" name="Text 17"/>
          <p:cNvSpPr/>
          <p:nvPr/>
        </p:nvSpPr>
        <p:spPr>
          <a:xfrm>
            <a:off x="6885432" y="3831336"/>
            <a:ext cx="44805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3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possible causes &amp; risk factors</a:t>
            </a:r>
            <a:endParaRPr lang="en-US" sz="1300" dirty="0"/>
          </a:p>
        </p:txBody>
      </p:sp>
      <p:sp>
        <p:nvSpPr>
          <p:cNvPr id="23" name="Shape 18"/>
          <p:cNvSpPr/>
          <p:nvPr/>
        </p:nvSpPr>
        <p:spPr>
          <a:xfrm>
            <a:off x="6629400" y="4645152"/>
            <a:ext cx="109728" cy="109728"/>
          </a:xfrm>
          <a:prstGeom prst="ellipse">
            <a:avLst/>
          </a:prstGeom>
          <a:solidFill>
            <a:srgbClr val="FF6B57"/>
          </a:solidFill>
          <a:ln/>
        </p:spPr>
      </p:sp>
      <p:sp>
        <p:nvSpPr>
          <p:cNvPr id="24" name="Text 19"/>
          <p:cNvSpPr/>
          <p:nvPr/>
        </p:nvSpPr>
        <p:spPr>
          <a:xfrm>
            <a:off x="6885432" y="4489704"/>
            <a:ext cx="44805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3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Provides personalized health recommendations</a:t>
            </a:r>
            <a:endParaRPr lang="en-US" sz="1300" dirty="0"/>
          </a:p>
        </p:txBody>
      </p:sp>
      <p:sp>
        <p:nvSpPr>
          <p:cNvPr id="25" name="Text 20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Prediction — AI Revolution</a:t>
            </a:r>
            <a:endParaRPr lang="en-US" sz="900" dirty="0"/>
          </a:p>
        </p:txBody>
      </p:sp>
      <p:sp>
        <p:nvSpPr>
          <p:cNvPr id="26" name="Text 21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CLOSING THE LOOP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32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Modules (5–6: Recommendations &amp; Data)</a:t>
            </a:r>
            <a:endParaRPr lang="en-US" sz="2900" dirty="0"/>
          </a:p>
        </p:txBody>
      </p:sp>
      <p:pic>
        <p:nvPicPr>
          <p:cNvPr id="4" name="Image 0" descr="/home/claude/ppt2/icons/pulse_line_mut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55280" y="502920"/>
            <a:ext cx="3749040" cy="5029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1737360"/>
            <a:ext cx="5440680" cy="4206240"/>
          </a:xfrm>
          <a:prstGeom prst="roundRect">
            <a:avLst>
              <a:gd name="adj" fmla="val 2174"/>
            </a:avLst>
          </a:prstGeom>
          <a:solidFill>
            <a:srgbClr val="F1F6F5"/>
          </a:solidFill>
          <a:ln/>
        </p:spPr>
      </p:sp>
      <p:sp>
        <p:nvSpPr>
          <p:cNvPr id="6" name="Shape 3"/>
          <p:cNvSpPr/>
          <p:nvPr/>
        </p:nvSpPr>
        <p:spPr>
          <a:xfrm>
            <a:off x="914400" y="2103120"/>
            <a:ext cx="868680" cy="868680"/>
          </a:xfrm>
          <a:prstGeom prst="ellipse">
            <a:avLst/>
          </a:prstGeom>
          <a:solidFill>
            <a:srgbClr val="0F3D3E"/>
          </a:solidFill>
          <a:ln/>
        </p:spPr>
      </p:sp>
      <p:pic>
        <p:nvPicPr>
          <p:cNvPr id="7" name="Image 1" descr="/home/claude/ppt2/icons/userm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3856" y="2322576"/>
            <a:ext cx="429768" cy="42976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920240" y="2194560"/>
            <a:ext cx="3703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Doctor Recommendation</a:t>
            </a:r>
            <a:endParaRPr lang="en-US" sz="1700" dirty="0"/>
          </a:p>
        </p:txBody>
      </p:sp>
      <p:sp>
        <p:nvSpPr>
          <p:cNvPr id="9" name="Shape 5"/>
          <p:cNvSpPr/>
          <p:nvPr/>
        </p:nvSpPr>
        <p:spPr>
          <a:xfrm>
            <a:off x="914400" y="3328416"/>
            <a:ext cx="109728" cy="109728"/>
          </a:xfrm>
          <a:prstGeom prst="ellipse">
            <a:avLst/>
          </a:prstGeom>
          <a:solidFill>
            <a:srgbClr val="FF6B57"/>
          </a:solidFill>
          <a:ln/>
        </p:spPr>
      </p:sp>
      <p:sp>
        <p:nvSpPr>
          <p:cNvPr id="10" name="Text 6"/>
          <p:cNvSpPr/>
          <p:nvPr/>
        </p:nvSpPr>
        <p:spPr>
          <a:xfrm>
            <a:off x="1170432" y="3172968"/>
            <a:ext cx="44805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3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Suggests relevant specialist doctors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914400" y="3986784"/>
            <a:ext cx="109728" cy="109728"/>
          </a:xfrm>
          <a:prstGeom prst="ellipse">
            <a:avLst/>
          </a:prstGeom>
          <a:solidFill>
            <a:srgbClr val="FF6B57"/>
          </a:solidFill>
          <a:ln/>
        </p:spPr>
      </p:sp>
      <p:sp>
        <p:nvSpPr>
          <p:cNvPr id="12" name="Text 8"/>
          <p:cNvSpPr/>
          <p:nvPr/>
        </p:nvSpPr>
        <p:spPr>
          <a:xfrm>
            <a:off x="1170432" y="3831336"/>
            <a:ext cx="44805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3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Advises medical consultation urgency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914400" y="4645152"/>
            <a:ext cx="109728" cy="109728"/>
          </a:xfrm>
          <a:prstGeom prst="ellipse">
            <a:avLst/>
          </a:prstGeom>
          <a:solidFill>
            <a:srgbClr val="FF6B57"/>
          </a:solidFill>
          <a:ln/>
        </p:spPr>
      </p:sp>
      <p:sp>
        <p:nvSpPr>
          <p:cNvPr id="14" name="Text 10"/>
          <p:cNvSpPr/>
          <p:nvPr/>
        </p:nvSpPr>
        <p:spPr>
          <a:xfrm>
            <a:off x="1170432" y="4489704"/>
            <a:ext cx="44805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3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Triggers emergency alerts if required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6263640" y="1737360"/>
            <a:ext cx="5440680" cy="4206240"/>
          </a:xfrm>
          <a:prstGeom prst="roundRect">
            <a:avLst>
              <a:gd name="adj" fmla="val 2174"/>
            </a:avLst>
          </a:prstGeom>
          <a:solidFill>
            <a:srgbClr val="F1F6F5"/>
          </a:solidFill>
          <a:ln/>
        </p:spPr>
      </p:sp>
      <p:sp>
        <p:nvSpPr>
          <p:cNvPr id="16" name="Shape 12"/>
          <p:cNvSpPr/>
          <p:nvPr/>
        </p:nvSpPr>
        <p:spPr>
          <a:xfrm>
            <a:off x="6629400" y="2103120"/>
            <a:ext cx="868680" cy="868680"/>
          </a:xfrm>
          <a:prstGeom prst="ellipse">
            <a:avLst/>
          </a:prstGeom>
          <a:solidFill>
            <a:srgbClr val="1B6B65"/>
          </a:solidFill>
          <a:ln/>
        </p:spPr>
      </p:sp>
      <p:pic>
        <p:nvPicPr>
          <p:cNvPr id="17" name="Image 2" descr="/home/claude/ppt2/icons/databas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48856" y="2322576"/>
            <a:ext cx="429768" cy="42976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7635240" y="2194560"/>
            <a:ext cx="3703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Database Module</a:t>
            </a:r>
            <a:endParaRPr lang="en-US" sz="1700" dirty="0"/>
          </a:p>
        </p:txBody>
      </p:sp>
      <p:sp>
        <p:nvSpPr>
          <p:cNvPr id="19" name="Shape 14"/>
          <p:cNvSpPr/>
          <p:nvPr/>
        </p:nvSpPr>
        <p:spPr>
          <a:xfrm>
            <a:off x="6629400" y="3328416"/>
            <a:ext cx="109728" cy="109728"/>
          </a:xfrm>
          <a:prstGeom prst="ellipse">
            <a:avLst/>
          </a:prstGeom>
          <a:solidFill>
            <a:srgbClr val="FF6B57"/>
          </a:solidFill>
          <a:ln/>
        </p:spPr>
      </p:sp>
      <p:sp>
        <p:nvSpPr>
          <p:cNvPr id="20" name="Text 15"/>
          <p:cNvSpPr/>
          <p:nvPr/>
        </p:nvSpPr>
        <p:spPr>
          <a:xfrm>
            <a:off x="6885432" y="3172968"/>
            <a:ext cx="44805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3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user information securely</a:t>
            </a:r>
            <a:endParaRPr lang="en-US" sz="1300" dirty="0"/>
          </a:p>
        </p:txBody>
      </p:sp>
      <p:sp>
        <p:nvSpPr>
          <p:cNvPr id="21" name="Shape 16"/>
          <p:cNvSpPr/>
          <p:nvPr/>
        </p:nvSpPr>
        <p:spPr>
          <a:xfrm>
            <a:off x="6629400" y="3986784"/>
            <a:ext cx="109728" cy="109728"/>
          </a:xfrm>
          <a:prstGeom prst="ellipse">
            <a:avLst/>
          </a:prstGeom>
          <a:solidFill>
            <a:srgbClr val="FF6B57"/>
          </a:solidFill>
          <a:ln/>
        </p:spPr>
      </p:sp>
      <p:sp>
        <p:nvSpPr>
          <p:cNvPr id="22" name="Text 17"/>
          <p:cNvSpPr/>
          <p:nvPr/>
        </p:nvSpPr>
        <p:spPr>
          <a:xfrm>
            <a:off x="6885432" y="3831336"/>
            <a:ext cx="44805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3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Saves full prediction history</a:t>
            </a:r>
            <a:endParaRPr lang="en-US" sz="1300" dirty="0"/>
          </a:p>
        </p:txBody>
      </p:sp>
      <p:sp>
        <p:nvSpPr>
          <p:cNvPr id="23" name="Shape 18"/>
          <p:cNvSpPr/>
          <p:nvPr/>
        </p:nvSpPr>
        <p:spPr>
          <a:xfrm>
            <a:off x="6629400" y="4645152"/>
            <a:ext cx="109728" cy="109728"/>
          </a:xfrm>
          <a:prstGeom prst="ellipse">
            <a:avLst/>
          </a:prstGeom>
          <a:solidFill>
            <a:srgbClr val="FF6B57"/>
          </a:solidFill>
          <a:ln/>
        </p:spPr>
      </p:sp>
      <p:sp>
        <p:nvSpPr>
          <p:cNvPr id="24" name="Text 19"/>
          <p:cNvSpPr/>
          <p:nvPr/>
        </p:nvSpPr>
        <p:spPr>
          <a:xfrm>
            <a:off x="6885432" y="4489704"/>
            <a:ext cx="44805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3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Maintains encrypted medical records</a:t>
            </a:r>
            <a:endParaRPr lang="en-US" sz="1300" dirty="0"/>
          </a:p>
        </p:txBody>
      </p:sp>
      <p:sp>
        <p:nvSpPr>
          <p:cNvPr id="25" name="Text 20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Prediction — AI Revolution</a:t>
            </a:r>
            <a:endParaRPr lang="en-US" sz="900" dirty="0"/>
          </a:p>
        </p:txBody>
      </p:sp>
      <p:sp>
        <p:nvSpPr>
          <p:cNvPr id="26" name="Text 21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HOOD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32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Architecture: Building the AI Health Engine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C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modular design ensures scalability, security, and seamless data flow across the platform.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11064240" cy="1188720"/>
          </a:xfrm>
          <a:prstGeom prst="roundRect">
            <a:avLst>
              <a:gd name="adj" fmla="val 7692"/>
            </a:avLst>
          </a:prstGeom>
          <a:solidFill>
            <a:srgbClr val="F1F6F5"/>
          </a:solidFill>
          <a:ln/>
        </p:spPr>
      </p:sp>
      <p:sp>
        <p:nvSpPr>
          <p:cNvPr id="6" name="Shape 4"/>
          <p:cNvSpPr/>
          <p:nvPr/>
        </p:nvSpPr>
        <p:spPr>
          <a:xfrm>
            <a:off x="868680" y="2103120"/>
            <a:ext cx="731520" cy="731520"/>
          </a:xfrm>
          <a:prstGeom prst="ellipse">
            <a:avLst/>
          </a:prstGeom>
          <a:solidFill>
            <a:srgbClr val="0F3D3E"/>
          </a:solidFill>
          <a:ln/>
        </p:spPr>
      </p:sp>
      <p:pic>
        <p:nvPicPr>
          <p:cNvPr id="7" name="Image 0" descr="/home/claude/ppt2/icons/database_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" y="2286000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1984248"/>
            <a:ext cx="30175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Layer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4846320" y="1984248"/>
            <a:ext cx="64922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Wearables, EHRs, and patient input feed the pipeline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806440" y="2926080"/>
            <a:ext cx="548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6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548640" y="3191256"/>
            <a:ext cx="11064240" cy="1188720"/>
          </a:xfrm>
          <a:prstGeom prst="roundRect">
            <a:avLst>
              <a:gd name="adj" fmla="val 7692"/>
            </a:avLst>
          </a:prstGeom>
          <a:solidFill>
            <a:srgbClr val="1B6B65"/>
          </a:solidFill>
          <a:ln/>
        </p:spPr>
      </p:sp>
      <p:sp>
        <p:nvSpPr>
          <p:cNvPr id="12" name="Shape 9"/>
          <p:cNvSpPr/>
          <p:nvPr/>
        </p:nvSpPr>
        <p:spPr>
          <a:xfrm>
            <a:off x="868680" y="3511296"/>
            <a:ext cx="731520" cy="731520"/>
          </a:xfrm>
          <a:prstGeom prst="ellipse">
            <a:avLst/>
          </a:prstGeom>
          <a:solidFill>
            <a:srgbClr val="0F4644"/>
          </a:solidFill>
          <a:ln/>
        </p:spPr>
      </p:sp>
      <p:pic>
        <p:nvPicPr>
          <p:cNvPr id="13" name="Image 1" descr="/home/claude/ppt2/icons/cog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" y="3694176"/>
            <a:ext cx="365760" cy="36576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828800" y="3392424"/>
            <a:ext cx="30175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Processing Layer</a:t>
            </a:r>
            <a:endParaRPr lang="en-US" sz="1700" dirty="0"/>
          </a:p>
        </p:txBody>
      </p:sp>
      <p:sp>
        <p:nvSpPr>
          <p:cNvPr id="15" name="Text 11"/>
          <p:cNvSpPr/>
          <p:nvPr/>
        </p:nvSpPr>
        <p:spPr>
          <a:xfrm>
            <a:off x="4846320" y="3392424"/>
            <a:ext cx="64922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1ED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AI/ML models perform feature extraction &amp; analysis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5806440" y="4334256"/>
            <a:ext cx="548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6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600" dirty="0"/>
          </a:p>
        </p:txBody>
      </p:sp>
      <p:sp>
        <p:nvSpPr>
          <p:cNvPr id="17" name="Shape 13"/>
          <p:cNvSpPr/>
          <p:nvPr/>
        </p:nvSpPr>
        <p:spPr>
          <a:xfrm>
            <a:off x="548640" y="4599432"/>
            <a:ext cx="11064240" cy="1188720"/>
          </a:xfrm>
          <a:prstGeom prst="roundRect">
            <a:avLst>
              <a:gd name="adj" fmla="val 7692"/>
            </a:avLst>
          </a:prstGeom>
          <a:solidFill>
            <a:srgbClr val="0F3D3E"/>
          </a:solidFill>
          <a:ln/>
        </p:spPr>
      </p:sp>
      <p:sp>
        <p:nvSpPr>
          <p:cNvPr id="18" name="Shape 14"/>
          <p:cNvSpPr/>
          <p:nvPr/>
        </p:nvSpPr>
        <p:spPr>
          <a:xfrm>
            <a:off x="868680" y="4919472"/>
            <a:ext cx="731520" cy="731520"/>
          </a:xfrm>
          <a:prstGeom prst="ellipse">
            <a:avLst/>
          </a:prstGeom>
          <a:solidFill>
            <a:srgbClr val="0A2E2E"/>
          </a:solidFill>
          <a:ln/>
        </p:spPr>
      </p:sp>
      <p:pic>
        <p:nvPicPr>
          <p:cNvPr id="19" name="Image 2" descr="/home/claude/ppt2/icons/bullsey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" y="5102352"/>
            <a:ext cx="365760" cy="36576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828800" y="4800600"/>
            <a:ext cx="30175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Output Layer</a:t>
            </a:r>
            <a:endParaRPr lang="en-US" sz="1700" dirty="0"/>
          </a:p>
        </p:txBody>
      </p:sp>
      <p:sp>
        <p:nvSpPr>
          <p:cNvPr id="21" name="Text 16"/>
          <p:cNvSpPr/>
          <p:nvPr/>
        </p:nvSpPr>
        <p:spPr>
          <a:xfrm>
            <a:off x="4846320" y="4800600"/>
            <a:ext cx="64922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1ED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Predictions, reports &amp; recommendations are delivered</a:t>
            </a:r>
            <a:endParaRPr lang="en-US" sz="1300" dirty="0"/>
          </a:p>
        </p:txBody>
      </p:sp>
      <p:sp>
        <p:nvSpPr>
          <p:cNvPr id="22" name="Text 17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Prediction — AI Revolution</a:t>
            </a:r>
            <a:endParaRPr lang="en-US" sz="900" dirty="0"/>
          </a:p>
        </p:txBody>
      </p:sp>
      <p:sp>
        <p:nvSpPr>
          <p:cNvPr id="23" name="Text 18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PAYOFF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32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Accuracy at Scale: AI vs Traditional Methods</a:t>
            </a:r>
            <a:endParaRPr lang="en-US" sz="29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600200"/>
          <a:ext cx="603504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6766560" y="164592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1B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AI OUTPERFORMS</a:t>
            </a:r>
            <a:endParaRPr lang="en-US" sz="1250" dirty="0"/>
          </a:p>
        </p:txBody>
      </p:sp>
      <p:sp>
        <p:nvSpPr>
          <p:cNvPr id="6" name="Shape 3"/>
          <p:cNvSpPr/>
          <p:nvPr/>
        </p:nvSpPr>
        <p:spPr>
          <a:xfrm>
            <a:off x="6766560" y="2057400"/>
            <a:ext cx="457200" cy="457200"/>
          </a:xfrm>
          <a:prstGeom prst="ellipse">
            <a:avLst/>
          </a:prstGeom>
          <a:solidFill>
            <a:srgbClr val="E4EFEE"/>
          </a:solidFill>
          <a:ln/>
        </p:spPr>
      </p:sp>
      <p:pic>
        <p:nvPicPr>
          <p:cNvPr id="7" name="Image 0" descr="/home/claude/ppt2/icons/bol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67144" y="2157984"/>
            <a:ext cx="256032" cy="25603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360920" y="2057400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3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 — </a:t>
            </a:r>
            <a:pPr indent="0" marL="0">
              <a:buNone/>
            </a:pPr>
            <a:r>
              <a:rPr lang="en-US" sz="1150" dirty="0">
                <a:solidFill>
                  <a:srgbClr val="5C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analysis vs. hours of manual review</a:t>
            </a:r>
            <a:endParaRPr lang="en-US" sz="1150" dirty="0"/>
          </a:p>
        </p:txBody>
      </p:sp>
      <p:sp>
        <p:nvSpPr>
          <p:cNvPr id="9" name="Shape 5"/>
          <p:cNvSpPr/>
          <p:nvPr/>
        </p:nvSpPr>
        <p:spPr>
          <a:xfrm>
            <a:off x="6766560" y="2679192"/>
            <a:ext cx="457200" cy="457200"/>
          </a:xfrm>
          <a:prstGeom prst="ellipse">
            <a:avLst/>
          </a:prstGeom>
          <a:solidFill>
            <a:srgbClr val="E4EFEE"/>
          </a:solidFill>
          <a:ln/>
        </p:spPr>
      </p:sp>
      <p:pic>
        <p:nvPicPr>
          <p:cNvPr id="10" name="Image 1" descr="/home/claude/ppt2/icons/balancescal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67144" y="2779776"/>
            <a:ext cx="256032" cy="256032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7360920" y="2679192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3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Consistency — </a:t>
            </a:r>
            <a:pPr indent="0" marL="0">
              <a:buNone/>
            </a:pPr>
            <a:r>
              <a:rPr lang="en-US" sz="1150" dirty="0">
                <a:solidFill>
                  <a:srgbClr val="5C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fatigue-related errors</a:t>
            </a:r>
            <a:endParaRPr lang="en-US" sz="1150" dirty="0"/>
          </a:p>
        </p:txBody>
      </p:sp>
      <p:sp>
        <p:nvSpPr>
          <p:cNvPr id="12" name="Shape 7"/>
          <p:cNvSpPr/>
          <p:nvPr/>
        </p:nvSpPr>
        <p:spPr>
          <a:xfrm>
            <a:off x="6766560" y="3300984"/>
            <a:ext cx="457200" cy="457200"/>
          </a:xfrm>
          <a:prstGeom prst="ellipse">
            <a:avLst/>
          </a:prstGeom>
          <a:solidFill>
            <a:srgbClr val="E4EFEE"/>
          </a:solidFill>
          <a:ln/>
        </p:spPr>
      </p:sp>
      <p:pic>
        <p:nvPicPr>
          <p:cNvPr id="13" name="Image 2" descr="/home/claude/ppt2/icons/expan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67144" y="3401568"/>
            <a:ext cx="256032" cy="256032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7360920" y="3300984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3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— </a:t>
            </a:r>
            <a:pPr indent="0" marL="0">
              <a:buNone/>
            </a:pPr>
            <a:r>
              <a:rPr lang="en-US" sz="1150" dirty="0">
                <a:solidFill>
                  <a:srgbClr val="5C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Processes thousands of data points simultaneously</a:t>
            </a:r>
            <a:endParaRPr lang="en-US" sz="1150" dirty="0"/>
          </a:p>
        </p:txBody>
      </p:sp>
      <p:sp>
        <p:nvSpPr>
          <p:cNvPr id="15" name="Shape 9"/>
          <p:cNvSpPr/>
          <p:nvPr/>
        </p:nvSpPr>
        <p:spPr>
          <a:xfrm>
            <a:off x="6766560" y="3922776"/>
            <a:ext cx="457200" cy="457200"/>
          </a:xfrm>
          <a:prstGeom prst="ellipse">
            <a:avLst/>
          </a:prstGeom>
          <a:solidFill>
            <a:srgbClr val="E4EFEE"/>
          </a:solidFill>
          <a:ln/>
        </p:spPr>
      </p:sp>
      <p:pic>
        <p:nvPicPr>
          <p:cNvPr id="16" name="Image 3" descr="/home/claude/ppt2/icons/syncal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67144" y="4023360"/>
            <a:ext cx="256032" cy="256032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7360920" y="3922776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3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— </a:t>
            </a:r>
            <a:pPr indent="0" marL="0">
              <a:buNone/>
            </a:pPr>
            <a:r>
              <a:rPr lang="en-US" sz="1150" dirty="0">
                <a:solidFill>
                  <a:srgbClr val="5C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improve continuously with new data</a:t>
            </a:r>
            <a:endParaRPr lang="en-US" sz="1150" dirty="0"/>
          </a:p>
        </p:txBody>
      </p:sp>
      <p:sp>
        <p:nvSpPr>
          <p:cNvPr id="18" name="Shape 11"/>
          <p:cNvSpPr/>
          <p:nvPr/>
        </p:nvSpPr>
        <p:spPr>
          <a:xfrm>
            <a:off x="6766560" y="4709160"/>
            <a:ext cx="4800600" cy="1051560"/>
          </a:xfrm>
          <a:prstGeom prst="roundRect">
            <a:avLst>
              <a:gd name="adj" fmla="val 6957"/>
            </a:avLst>
          </a:prstGeom>
          <a:solidFill>
            <a:srgbClr val="07211F"/>
          </a:solidFill>
          <a:ln/>
        </p:spPr>
      </p:sp>
      <p:sp>
        <p:nvSpPr>
          <p:cNvPr id="19" name="Text 12"/>
          <p:cNvSpPr/>
          <p:nvPr/>
        </p:nvSpPr>
        <p:spPr>
          <a:xfrm>
            <a:off x="6949440" y="4709160"/>
            <a:ext cx="14630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6B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40%</a:t>
            </a:r>
            <a:endParaRPr lang="en-US" sz="3200" dirty="0"/>
          </a:p>
        </p:txBody>
      </p:sp>
      <p:sp>
        <p:nvSpPr>
          <p:cNvPr id="20" name="Text 13"/>
          <p:cNvSpPr/>
          <p:nvPr/>
        </p:nvSpPr>
        <p:spPr>
          <a:xfrm>
            <a:off x="8366760" y="4754880"/>
            <a:ext cx="30632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1ED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reduction in misdiagnosis rates seen in clinical pilot studies using neural networks.</a:t>
            </a:r>
            <a:endParaRPr lang="en-US" sz="1050" dirty="0"/>
          </a:p>
        </p:txBody>
      </p:sp>
      <p:sp>
        <p:nvSpPr>
          <p:cNvPr id="21" name="Text 14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Prediction — AI Revolution</a:t>
            </a:r>
            <a:endParaRPr lang="en-US" sz="900" dirty="0"/>
          </a:p>
        </p:txBody>
      </p:sp>
      <p:sp>
        <p:nvSpPr>
          <p:cNvPr id="22" name="Text 15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IMPACT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32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Personalized Medicine &amp; Real-World Breakthroughs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440680" cy="4206240"/>
          </a:xfrm>
          <a:prstGeom prst="roundRect">
            <a:avLst>
              <a:gd name="adj" fmla="val 2174"/>
            </a:avLst>
          </a:prstGeom>
          <a:solidFill>
            <a:srgbClr val="F1F6F5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2011680"/>
            <a:ext cx="777240" cy="777240"/>
          </a:xfrm>
          <a:prstGeom prst="ellipse">
            <a:avLst/>
          </a:prstGeom>
          <a:solidFill>
            <a:srgbClr val="0F3D3E"/>
          </a:solidFill>
          <a:ln/>
        </p:spPr>
      </p:sp>
      <p:pic>
        <p:nvPicPr>
          <p:cNvPr id="6" name="Image 0" descr="/home/claude/ppt2/icons/dn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" y="2194560"/>
            <a:ext cx="411480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084832"/>
            <a:ext cx="3931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32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Genetic &amp; Lifestyle Insights</a:t>
            </a:r>
            <a:endParaRPr lang="en-US" sz="1650" dirty="0"/>
          </a:p>
        </p:txBody>
      </p:sp>
      <p:sp>
        <p:nvSpPr>
          <p:cNvPr id="8" name="Shape 5"/>
          <p:cNvSpPr/>
          <p:nvPr/>
        </p:nvSpPr>
        <p:spPr>
          <a:xfrm>
            <a:off x="868680" y="3118104"/>
            <a:ext cx="118872" cy="118872"/>
          </a:xfrm>
          <a:prstGeom prst="ellipse">
            <a:avLst/>
          </a:prstGeom>
          <a:solidFill>
            <a:srgbClr val="FF6B57"/>
          </a:solidFill>
          <a:ln/>
        </p:spPr>
      </p:sp>
      <p:sp>
        <p:nvSpPr>
          <p:cNvPr id="9" name="Text 6"/>
          <p:cNvSpPr/>
          <p:nvPr/>
        </p:nvSpPr>
        <p:spPr>
          <a:xfrm>
            <a:off x="1143000" y="2953512"/>
            <a:ext cx="4572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3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Treatment plans tailored to individual genetic profiles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868680" y="4014216"/>
            <a:ext cx="118872" cy="118872"/>
          </a:xfrm>
          <a:prstGeom prst="ellipse">
            <a:avLst/>
          </a:prstGeom>
          <a:solidFill>
            <a:srgbClr val="FF6B57"/>
          </a:solidFill>
          <a:ln/>
        </p:spPr>
      </p:sp>
      <p:sp>
        <p:nvSpPr>
          <p:cNvPr id="11" name="Text 8"/>
          <p:cNvSpPr/>
          <p:nvPr/>
        </p:nvSpPr>
        <p:spPr>
          <a:xfrm>
            <a:off x="1143000" y="3849624"/>
            <a:ext cx="4572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3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analyzes genetic risk markers for early intervention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868680" y="4910328"/>
            <a:ext cx="118872" cy="118872"/>
          </a:xfrm>
          <a:prstGeom prst="ellipse">
            <a:avLst/>
          </a:prstGeom>
          <a:solidFill>
            <a:srgbClr val="FF6B57"/>
          </a:solidFill>
          <a:ln/>
        </p:spPr>
      </p:sp>
      <p:sp>
        <p:nvSpPr>
          <p:cNvPr id="13" name="Text 10"/>
          <p:cNvSpPr/>
          <p:nvPr/>
        </p:nvSpPr>
        <p:spPr>
          <a:xfrm>
            <a:off x="1143000" y="4745736"/>
            <a:ext cx="4572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3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Predicts disease onset up to 10 years in advance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6217920" y="1691640"/>
            <a:ext cx="5440680" cy="4206240"/>
          </a:xfrm>
          <a:prstGeom prst="roundRect">
            <a:avLst>
              <a:gd name="adj" fmla="val 2174"/>
            </a:avLst>
          </a:prstGeom>
          <a:solidFill>
            <a:srgbClr val="1B6B65"/>
          </a:solidFill>
          <a:ln/>
        </p:spPr>
      </p:sp>
      <p:sp>
        <p:nvSpPr>
          <p:cNvPr id="15" name="Shape 12"/>
          <p:cNvSpPr/>
          <p:nvPr/>
        </p:nvSpPr>
        <p:spPr>
          <a:xfrm>
            <a:off x="6537960" y="2011680"/>
            <a:ext cx="777240" cy="777240"/>
          </a:xfrm>
          <a:prstGeom prst="ellipse">
            <a:avLst/>
          </a:prstGeom>
          <a:solidFill>
            <a:srgbClr val="0F4644"/>
          </a:solidFill>
          <a:ln/>
        </p:spPr>
      </p:sp>
      <p:pic>
        <p:nvPicPr>
          <p:cNvPr id="16" name="Image 1" descr="/home/claude/ppt2/icons/hospita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2194560"/>
            <a:ext cx="411480" cy="41148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7498080" y="2084832"/>
            <a:ext cx="3931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Case Study Highlights</a:t>
            </a:r>
            <a:endParaRPr lang="en-US" sz="1650" dirty="0"/>
          </a:p>
        </p:txBody>
      </p:sp>
      <p:sp>
        <p:nvSpPr>
          <p:cNvPr id="18" name="Shape 14"/>
          <p:cNvSpPr/>
          <p:nvPr/>
        </p:nvSpPr>
        <p:spPr>
          <a:xfrm>
            <a:off x="6537960" y="3118104"/>
            <a:ext cx="118872" cy="118872"/>
          </a:xfrm>
          <a:prstGeom prst="ellipse">
            <a:avLst/>
          </a:prstGeom>
          <a:solidFill>
            <a:srgbClr val="FF6B57"/>
          </a:solidFill>
          <a:ln/>
        </p:spPr>
      </p:sp>
      <p:sp>
        <p:nvSpPr>
          <p:cNvPr id="19" name="Text 15"/>
          <p:cNvSpPr/>
          <p:nvPr/>
        </p:nvSpPr>
        <p:spPr>
          <a:xfrm>
            <a:off x="6812280" y="2953512"/>
            <a:ext cx="4572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AF3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cardiovascular risk detection via pulse data analysis</a:t>
            </a:r>
            <a:endParaRPr lang="en-US" sz="1300" dirty="0"/>
          </a:p>
        </p:txBody>
      </p:sp>
      <p:sp>
        <p:nvSpPr>
          <p:cNvPr id="20" name="Shape 16"/>
          <p:cNvSpPr/>
          <p:nvPr/>
        </p:nvSpPr>
        <p:spPr>
          <a:xfrm>
            <a:off x="6537960" y="4014216"/>
            <a:ext cx="118872" cy="118872"/>
          </a:xfrm>
          <a:prstGeom prst="ellipse">
            <a:avLst/>
          </a:prstGeom>
          <a:solidFill>
            <a:srgbClr val="FF6B57"/>
          </a:solidFill>
          <a:ln/>
        </p:spPr>
      </p:sp>
      <p:sp>
        <p:nvSpPr>
          <p:cNvPr id="21" name="Text 17"/>
          <p:cNvSpPr/>
          <p:nvPr/>
        </p:nvSpPr>
        <p:spPr>
          <a:xfrm>
            <a:off x="6812280" y="3849624"/>
            <a:ext cx="4572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AF3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AI-driven oncology models mapping disease progression</a:t>
            </a:r>
            <a:endParaRPr lang="en-US" sz="1300" dirty="0"/>
          </a:p>
        </p:txBody>
      </p:sp>
      <p:sp>
        <p:nvSpPr>
          <p:cNvPr id="22" name="Shape 18"/>
          <p:cNvSpPr/>
          <p:nvPr/>
        </p:nvSpPr>
        <p:spPr>
          <a:xfrm>
            <a:off x="6537960" y="4910328"/>
            <a:ext cx="118872" cy="118872"/>
          </a:xfrm>
          <a:prstGeom prst="ellipse">
            <a:avLst/>
          </a:prstGeom>
          <a:solidFill>
            <a:srgbClr val="FF6B57"/>
          </a:solidFill>
          <a:ln/>
        </p:spPr>
      </p:sp>
      <p:sp>
        <p:nvSpPr>
          <p:cNvPr id="23" name="Text 19"/>
          <p:cNvSpPr/>
          <p:nvPr/>
        </p:nvSpPr>
        <p:spPr>
          <a:xfrm>
            <a:off x="6812280" y="4745736"/>
            <a:ext cx="4572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AF3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Significant success rates in hospital pilot programs</a:t>
            </a:r>
            <a:endParaRPr lang="en-US" sz="1300" dirty="0"/>
          </a:p>
        </p:txBody>
      </p:sp>
      <p:sp>
        <p:nvSpPr>
          <p:cNvPr id="24" name="Text 20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Prediction — AI Revolution</a:t>
            </a:r>
            <a:endParaRPr lang="en-US" sz="900" dirty="0"/>
          </a:p>
        </p:txBody>
      </p:sp>
      <p:sp>
        <p:nvSpPr>
          <p:cNvPr id="25" name="Text 21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EXPERIENCE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32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Interface: Patient &amp; Doctor Experience</a:t>
            </a:r>
            <a:endParaRPr lang="en-US" sz="2900" dirty="0"/>
          </a:p>
        </p:txBody>
      </p:sp>
      <p:pic>
        <p:nvPicPr>
          <p:cNvPr id="4" name="Image 0" descr="/home/claude/ppt2/icons/pulse_line_mut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55280" y="502920"/>
            <a:ext cx="3749040" cy="5029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1874520"/>
            <a:ext cx="3520440" cy="3977640"/>
          </a:xfrm>
          <a:prstGeom prst="roundRect">
            <a:avLst>
              <a:gd name="adj" fmla="val 2597"/>
            </a:avLst>
          </a:prstGeom>
          <a:solidFill>
            <a:srgbClr val="F1F6F5"/>
          </a:solidFill>
          <a:ln/>
        </p:spPr>
      </p:sp>
      <p:sp>
        <p:nvSpPr>
          <p:cNvPr id="6" name="Shape 3"/>
          <p:cNvSpPr/>
          <p:nvPr/>
        </p:nvSpPr>
        <p:spPr>
          <a:xfrm>
            <a:off x="1828800" y="2240280"/>
            <a:ext cx="960120" cy="960120"/>
          </a:xfrm>
          <a:prstGeom prst="ellipse">
            <a:avLst/>
          </a:prstGeom>
          <a:solidFill>
            <a:srgbClr val="0F3D3E"/>
          </a:solidFill>
          <a:ln/>
        </p:spPr>
      </p:sp>
      <p:pic>
        <p:nvPicPr>
          <p:cNvPr id="7" name="Image 1" descr="/home/claude/ppt2/icons/deskto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5688" y="2487168"/>
            <a:ext cx="466344" cy="46634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22960" y="3474720"/>
            <a:ext cx="2971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32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Patient Dashboard</a:t>
            </a:r>
            <a:endParaRPr lang="en-US" sz="1550" dirty="0"/>
          </a:p>
        </p:txBody>
      </p:sp>
      <p:sp>
        <p:nvSpPr>
          <p:cNvPr id="9" name="Text 5"/>
          <p:cNvSpPr/>
          <p:nvPr/>
        </p:nvSpPr>
        <p:spPr>
          <a:xfrm>
            <a:off x="868680" y="4069080"/>
            <a:ext cx="28803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C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Intuitive symptom monitoring with visual health trends and alerts.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4343400" y="1874520"/>
            <a:ext cx="3520440" cy="3977640"/>
          </a:xfrm>
          <a:prstGeom prst="roundRect">
            <a:avLst>
              <a:gd name="adj" fmla="val 2597"/>
            </a:avLst>
          </a:prstGeom>
          <a:solidFill>
            <a:srgbClr val="F1F6F5"/>
          </a:solidFill>
          <a:ln/>
        </p:spPr>
      </p:sp>
      <p:sp>
        <p:nvSpPr>
          <p:cNvPr id="11" name="Shape 7"/>
          <p:cNvSpPr/>
          <p:nvPr/>
        </p:nvSpPr>
        <p:spPr>
          <a:xfrm>
            <a:off x="5623560" y="2240280"/>
            <a:ext cx="960120" cy="960120"/>
          </a:xfrm>
          <a:prstGeom prst="ellipse">
            <a:avLst/>
          </a:prstGeom>
          <a:solidFill>
            <a:srgbClr val="1B6B65"/>
          </a:solidFill>
          <a:ln/>
        </p:spPr>
      </p:sp>
      <p:pic>
        <p:nvPicPr>
          <p:cNvPr id="12" name="Image 2" descr="/home/claude/ppt2/icons/videocam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0448" y="2487168"/>
            <a:ext cx="466344" cy="466344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4617720" y="3474720"/>
            <a:ext cx="2971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32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Virtual Consultations</a:t>
            </a:r>
            <a:endParaRPr lang="en-US" sz="1550" dirty="0"/>
          </a:p>
        </p:txBody>
      </p:sp>
      <p:sp>
        <p:nvSpPr>
          <p:cNvPr id="14" name="Text 9"/>
          <p:cNvSpPr/>
          <p:nvPr/>
        </p:nvSpPr>
        <p:spPr>
          <a:xfrm>
            <a:off x="4663440" y="4069080"/>
            <a:ext cx="28803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C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doctor recommendations with seamless telemedicine integration.</a:t>
            </a:r>
            <a:endParaRPr lang="en-US" sz="1200" dirty="0"/>
          </a:p>
        </p:txBody>
      </p:sp>
      <p:sp>
        <p:nvSpPr>
          <p:cNvPr id="15" name="Shape 10"/>
          <p:cNvSpPr/>
          <p:nvPr/>
        </p:nvSpPr>
        <p:spPr>
          <a:xfrm>
            <a:off x="8138160" y="1874520"/>
            <a:ext cx="3520440" cy="3977640"/>
          </a:xfrm>
          <a:prstGeom prst="roundRect">
            <a:avLst>
              <a:gd name="adj" fmla="val 2597"/>
            </a:avLst>
          </a:prstGeom>
          <a:solidFill>
            <a:srgbClr val="F1F6F5"/>
          </a:solidFill>
          <a:ln/>
        </p:spPr>
      </p:sp>
      <p:sp>
        <p:nvSpPr>
          <p:cNvPr id="16" name="Shape 11"/>
          <p:cNvSpPr/>
          <p:nvPr/>
        </p:nvSpPr>
        <p:spPr>
          <a:xfrm>
            <a:off x="9418320" y="2240280"/>
            <a:ext cx="960120" cy="960120"/>
          </a:xfrm>
          <a:prstGeom prst="ellipse">
            <a:avLst/>
          </a:prstGeom>
          <a:solidFill>
            <a:srgbClr val="0F3D3E"/>
          </a:solidFill>
          <a:ln/>
        </p:spPr>
      </p:sp>
      <p:pic>
        <p:nvPicPr>
          <p:cNvPr id="17" name="Image 3" descr="/home/claude/ppt2/icons/shieldal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65208" y="2487168"/>
            <a:ext cx="466344" cy="466344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8412480" y="3474720"/>
            <a:ext cx="2971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32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Privacy</a:t>
            </a:r>
            <a:endParaRPr lang="en-US" sz="1550" dirty="0"/>
          </a:p>
        </p:txBody>
      </p:sp>
      <p:sp>
        <p:nvSpPr>
          <p:cNvPr id="19" name="Text 13"/>
          <p:cNvSpPr/>
          <p:nvPr/>
        </p:nvSpPr>
        <p:spPr>
          <a:xfrm>
            <a:off x="8458200" y="4069080"/>
            <a:ext cx="28803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C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HIPAA-compliant storage with end-to-end encryption for patient records.</a:t>
            </a:r>
            <a:endParaRPr lang="en-US" sz="1200" dirty="0"/>
          </a:p>
        </p:txBody>
      </p:sp>
      <p:sp>
        <p:nvSpPr>
          <p:cNvPr id="20" name="Text 14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Prediction — AI Revolution</a:t>
            </a:r>
            <a:endParaRPr lang="en-US" sz="900" dirty="0"/>
          </a:p>
        </p:txBody>
      </p:sp>
      <p:sp>
        <p:nvSpPr>
          <p:cNvPr id="21" name="Text 15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72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3931920"/>
            <a:ext cx="4754880" cy="4754880"/>
          </a:xfrm>
          <a:prstGeom prst="ellipse">
            <a:avLst/>
          </a:prstGeom>
          <a:solidFill>
            <a:srgbClr val="0F3D3E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058400" y="-1463040"/>
            <a:ext cx="3657600" cy="3657600"/>
          </a:xfrm>
          <a:prstGeom prst="ellipse">
            <a:avLst/>
          </a:prstGeom>
          <a:solidFill>
            <a:srgbClr val="1B6B65">
              <a:alpha val="6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029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6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914400"/>
            <a:ext cx="10058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Future of Health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965960"/>
            <a:ext cx="3520440" cy="2331720"/>
          </a:xfrm>
          <a:prstGeom prst="roundRect">
            <a:avLst>
              <a:gd name="adj" fmla="val 3922"/>
            </a:avLst>
          </a:prstGeom>
          <a:solidFill>
            <a:srgbClr val="0F3230"/>
          </a:solidFill>
          <a:ln/>
        </p:spPr>
      </p:sp>
      <p:sp>
        <p:nvSpPr>
          <p:cNvPr id="7" name="Shape 5"/>
          <p:cNvSpPr/>
          <p:nvPr/>
        </p:nvSpPr>
        <p:spPr>
          <a:xfrm>
            <a:off x="822960" y="2240280"/>
            <a:ext cx="658368" cy="658368"/>
          </a:xfrm>
          <a:prstGeom prst="ellipse">
            <a:avLst/>
          </a:prstGeom>
          <a:solidFill>
            <a:srgbClr val="0F3D3E"/>
          </a:solidFill>
          <a:ln/>
        </p:spPr>
      </p:sp>
      <p:pic>
        <p:nvPicPr>
          <p:cNvPr id="8" name="Image 0" descr="/home/claude/ppt2/icons/refres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" y="2404872"/>
            <a:ext cx="329184" cy="32918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22960" y="301752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Paradigm Shift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822960" y="3410712"/>
            <a:ext cx="2971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AFC9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sickness care to wellness prediction — preventing disease before it strikes.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343400" y="1965960"/>
            <a:ext cx="3520440" cy="2331720"/>
          </a:xfrm>
          <a:prstGeom prst="roundRect">
            <a:avLst>
              <a:gd name="adj" fmla="val 3922"/>
            </a:avLst>
          </a:prstGeom>
          <a:solidFill>
            <a:srgbClr val="0F3230"/>
          </a:solidFill>
          <a:ln/>
        </p:spPr>
      </p:sp>
      <p:sp>
        <p:nvSpPr>
          <p:cNvPr id="12" name="Shape 9"/>
          <p:cNvSpPr/>
          <p:nvPr/>
        </p:nvSpPr>
        <p:spPr>
          <a:xfrm>
            <a:off x="4617720" y="2240280"/>
            <a:ext cx="658368" cy="658368"/>
          </a:xfrm>
          <a:prstGeom prst="ellipse">
            <a:avLst/>
          </a:prstGeom>
          <a:solidFill>
            <a:srgbClr val="0F3D3E"/>
          </a:solidFill>
          <a:ln/>
        </p:spPr>
      </p:sp>
      <p:pic>
        <p:nvPicPr>
          <p:cNvPr id="13" name="Image 1" descr="/home/claude/ppt2/icons/rocke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2312" y="2404872"/>
            <a:ext cx="329184" cy="32918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617720" y="301752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Embrace Innovation</a:t>
            </a:r>
            <a:endParaRPr lang="en-US" sz="1450" dirty="0"/>
          </a:p>
        </p:txBody>
      </p:sp>
      <p:sp>
        <p:nvSpPr>
          <p:cNvPr id="15" name="Text 11"/>
          <p:cNvSpPr/>
          <p:nvPr/>
        </p:nvSpPr>
        <p:spPr>
          <a:xfrm>
            <a:off x="4617720" y="3410712"/>
            <a:ext cx="2971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AFC9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Adopting AI-driven tools today builds a healthier, more resilient society tomorrow.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8138160" y="1965960"/>
            <a:ext cx="3520440" cy="2331720"/>
          </a:xfrm>
          <a:prstGeom prst="roundRect">
            <a:avLst>
              <a:gd name="adj" fmla="val 3922"/>
            </a:avLst>
          </a:prstGeom>
          <a:solidFill>
            <a:srgbClr val="0F3230"/>
          </a:solidFill>
          <a:ln/>
        </p:spPr>
      </p:sp>
      <p:sp>
        <p:nvSpPr>
          <p:cNvPr id="17" name="Shape 13"/>
          <p:cNvSpPr/>
          <p:nvPr/>
        </p:nvSpPr>
        <p:spPr>
          <a:xfrm>
            <a:off x="8412480" y="2240280"/>
            <a:ext cx="658368" cy="658368"/>
          </a:xfrm>
          <a:prstGeom prst="ellipse">
            <a:avLst/>
          </a:prstGeom>
          <a:solidFill>
            <a:srgbClr val="0F3D3E"/>
          </a:solidFill>
          <a:ln/>
        </p:spPr>
      </p:sp>
      <p:pic>
        <p:nvPicPr>
          <p:cNvPr id="18" name="Image 2" descr="/home/claude/ppt2/icons/glob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7072" y="2404872"/>
            <a:ext cx="329184" cy="329184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412480" y="301752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New Standard</a:t>
            </a:r>
            <a:endParaRPr lang="en-US" sz="1450" dirty="0"/>
          </a:p>
        </p:txBody>
      </p:sp>
      <p:sp>
        <p:nvSpPr>
          <p:cNvPr id="20" name="Text 15"/>
          <p:cNvSpPr/>
          <p:nvPr/>
        </p:nvSpPr>
        <p:spPr>
          <a:xfrm>
            <a:off x="8412480" y="3410712"/>
            <a:ext cx="2971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AFC9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world where early detection is the norm, not the exception.</a:t>
            </a:r>
            <a:endParaRPr lang="en-US" sz="1100" dirty="0"/>
          </a:p>
        </p:txBody>
      </p:sp>
      <p:sp>
        <p:nvSpPr>
          <p:cNvPr id="21" name="Shape 16"/>
          <p:cNvSpPr/>
          <p:nvPr/>
        </p:nvSpPr>
        <p:spPr>
          <a:xfrm>
            <a:off x="548640" y="4617720"/>
            <a:ext cx="11064240" cy="1234440"/>
          </a:xfrm>
          <a:prstGeom prst="roundRect">
            <a:avLst>
              <a:gd name="adj" fmla="val 7407"/>
            </a:avLst>
          </a:prstGeom>
          <a:solidFill>
            <a:srgbClr val="FF6B57"/>
          </a:solidFill>
          <a:ln/>
        </p:spPr>
      </p:sp>
      <p:sp>
        <p:nvSpPr>
          <p:cNvPr id="22" name="Text 17"/>
          <p:cNvSpPr/>
          <p:nvPr/>
        </p:nvSpPr>
        <p:spPr>
          <a:xfrm>
            <a:off x="868680" y="4617720"/>
            <a:ext cx="104241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721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Takeaway:  </a:t>
            </a:r>
            <a:pPr indent="0" marL="0">
              <a:buNone/>
            </a:pPr>
            <a:r>
              <a:rPr lang="en-US" sz="1450" dirty="0">
                <a:solidFill>
                  <a:srgbClr val="0721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health prediction is not just a technological advancement — it is a moral imperative for modern medicine.</a:t>
            </a:r>
            <a:endParaRPr lang="en-US" sz="1450" dirty="0"/>
          </a:p>
        </p:txBody>
      </p:sp>
      <p:sp>
        <p:nvSpPr>
          <p:cNvPr id="23" name="Text 18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8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Prediction — AI Revolution</a:t>
            </a:r>
            <a:endParaRPr lang="en-US" sz="900" dirty="0"/>
          </a:p>
        </p:txBody>
      </p:sp>
      <p:sp>
        <p:nvSpPr>
          <p:cNvPr id="24" name="Text 19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8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2026-08-06T05:04:25Z</dcterms:created>
  <dcterms:modified xsi:type="dcterms:W3CDTF">2026-08-06T05:04:25Z</dcterms:modified>
</cp:coreProperties>
</file>